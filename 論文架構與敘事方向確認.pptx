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進度報告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論文架構與敘事方向確認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3657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490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指導教授：許智誠老師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陳莉豐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date:10/13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今天請老師確認三件事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這次只確認方向，不談細節數字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一個主軸加三個子問題，設計是否恰當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11396" y="182880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1396" y="182880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1396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48556" y="23774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論文架構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由研究問題延伸出來的章節安排是否可行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119872" y="1828800"/>
            <a:ext cx="3566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82880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9872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3774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敘事方式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自己推翻的結果與未驗證項目，誠實呈現是否可接受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02920" y="4937760"/>
            <a:ext cx="11183112" cy="100584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9377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流程：先講研究問題，再看由它延伸出的系統與論文架構，最後看初步結果與限制。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策略變多，分散與風控未必跟上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研究背景：模擬基金公司的投資流程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291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32918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策略工廠 FCV：系統性產出上萬個候選策略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宣告式多因子回測引擎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828800"/>
            <a:ext cx="411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48556" y="1828800"/>
            <a:ext cx="3291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8556" y="1828800"/>
            <a:ext cx="32918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8556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23774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研究部：分析策略池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結構、挑選方式、分散與互補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740396" y="1828800"/>
            <a:ext cx="411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94192" y="1828800"/>
            <a:ext cx="32918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828800"/>
            <a:ext cx="32918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23774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實戰層：監控、調整與解釋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持續監控組合現況，必要時調整，LLM Agent 輔助解釋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11183112" cy="128016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4632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觀察：策略數量變多，不代表分散、挑選與風控能力同步變強。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整條流程在台股與美股兩個市場驗證。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逐層檢驗每個環節是否有額外價值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研究問題：一個主軸，三個子問題，一個外部效度檢查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114300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主軸　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以全買與不動作為簡單基準，投資流程中逐層增加的環節（策略擴張、精選、調整），是否帶來可驗證的額外價值？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260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「價值」＝ 報酬、風險、分散與互補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38328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SQ1　擴張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大量策略是否帶來真正的獨立性與互補性（免費午餐）？存在於台–台、美–美、台–美哪一種配對？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11396" y="338328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1396" y="338328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1396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SQ2　精選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48556" y="3931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精選是否優於全買與隨機抽樣？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19872" y="338328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338328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19872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SQ3　調整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57032" y="3931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調整是否優於不動？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5532120"/>
            <a:ext cx="11183112" cy="68580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外部效度：結論在台股與美股是否一致？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三個子問題各對應一層與一個基準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比什麼、看什麼，都事先訂定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3291840"/>
                <a:gridCol w="4416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子問題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對應流程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比較基準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看什麼價值</a:t>
                      </a:r>
                      <a:endParaRPr lang="en-US" sz="18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SQ1 擴張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策略工廠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策略數量 vs 實質獨立程度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獨立性、互補性（台–台、美–美、台–美）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SQ2 精選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研究部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全買、隨機抽樣、歷史贏家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報酬、風險、回撤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SQ3 調整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實戰層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不動作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報酬、風險、是否跨時期有效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外部效度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全流程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台股 vs 美股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方向是否一致</a:t>
                      </a:r>
                      <a:endParaRPr lang="en-US" sz="17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63440"/>
            <a:ext cx="11183112" cy="155448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663440"/>
            <a:ext cx="10725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三題都是「是否、差異」的事實問題，不是「如何做」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解釋的可信度是系統元件的驗證，不列為研究問題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調整的證據來自台股一段特定期間，屬探索性案例，不當成長期結論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三個子問題落在流程的三個環節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系統架構：每一層的輸入、輸出與對應章節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48716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00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策略工廠 FCV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130552"/>
            <a:ext cx="22677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因子定義、財報與價格資料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候選策略池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3.1／驗證 4.1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90088" y="1600200"/>
            <a:ext cx="411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600200"/>
            <a:ext cx="248716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1600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研究部分析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130552"/>
            <a:ext cx="22677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候選策略池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群結構、獨立與互補度、精選代表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3.2／驗證 4.2.1–4.2.2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88736" y="1600200"/>
            <a:ext cx="411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0216" y="160020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600200"/>
            <a:ext cx="248716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1600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實戰層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130552"/>
            <a:ext cx="22677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精選組合、市場現況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調整後組合、警示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3.3.1–3.3.2／驗證 4.2.3–4.2.5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87384" y="1600200"/>
            <a:ext cx="411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98864" y="1600200"/>
            <a:ext cx="24871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1600200"/>
            <a:ext cx="2487168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98864" y="16002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解釋與治理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2130552"/>
            <a:ext cx="226771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程式算出的結果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七段式解釋、建議、備忘錄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3.3.3–3.3.5／驗證 4.3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754880"/>
            <a:ext cx="5385816" cy="384048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4754880"/>
            <a:ext cx="5385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SQ1 擴張：獨立與互補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0216" y="4754880"/>
            <a:ext cx="2487168" cy="384048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0216" y="47548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SQ3 調整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98864" y="4754880"/>
            <a:ext cx="24871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98864" y="47548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元件驗證（非研究問題）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01568" y="5212080"/>
            <a:ext cx="2487168" cy="384048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01568" y="521208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SQ2 精選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" y="5760720"/>
            <a:ext cx="1280160" cy="457200"/>
          </a:xfrm>
          <a:prstGeom prst="rect">
            <a:avLst/>
          </a:prstGeom>
          <a:solidFill>
            <a:srgbClr val="E8F3EE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5760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05872" y="5760720"/>
            <a:ext cx="1280160" cy="457200"/>
          </a:xfrm>
          <a:prstGeom prst="rect">
            <a:avLst/>
          </a:prstGeom>
          <a:solidFill>
            <a:srgbClr val="FCEFE5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05872" y="5760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5A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874520" y="5760720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兩個市場各自跑完整流程　→　外部效度（4.4、4.5）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論文五章由研究問題依序展開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第一章提問、第二章文獻、第三章設計、第四章驗證、第五章回答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1945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緒論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88920" y="1645920"/>
            <a:ext cx="8897112" cy="566928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71800" y="164592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 研究背景 ・ 1.2 問題意識 ・ 1.3 研究目的與貢獻 ・ 1.4 論文結構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1945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第二章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文獻回顧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2286000"/>
            <a:ext cx="8897112" cy="566928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2286000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 因子理論 ・ 2.2 多因子方法論 ・ 2.3 監控決策系統 ・ 2.4 績效與風險指標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219456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系統設計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88920" y="2926080"/>
            <a:ext cx="8897112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2926080"/>
            <a:ext cx="8531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3.1 FCV 引擎 ・ 3.2 研究部分析方法 ・ 3.3 監控決策系統（3.3.1 監控與動作框架 ・ 3.3.2 風控層 ・ 3.3.3 解釋機制 ・ 3.3.4 前瞻驗證設計 ・ 3.3.5 法人治理設計 ・ 3.3.6 設計與驗證對照）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219456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09651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系統驗證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88920" y="4096512"/>
            <a:ext cx="8897112" cy="10972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71800" y="4096512"/>
            <a:ext cx="8531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4.1 候選池建構 ・ 4.2 台股驗證鏈（4.2.1 策略池結構 ・ 4.2.2 精選為什麼有效 ・ 4.2.3 排除 V1 ・ 4.2.4 調整機制案例 ・ 4.2.5 尚未獲實證項目）・ 4.3 LLM 前瞻驗證 ・ 4.4 美股驗證 ・ 4.5 跨市場比較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5266944"/>
            <a:ext cx="219456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669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第五章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788920" y="5266944"/>
            <a:ext cx="8897112" cy="566928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5266944"/>
            <a:ext cx="8531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 研究結論 ・ 5.2 研究限制 ・ 5.3 未來研究方向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第一章：從落差導出研究主軸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每一節的結尾，就是下一節要回答的問題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 研究背景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量化選股需要多因子回測；FCV 能大量產生策略，但挑選與風控未必跟著變強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光有引擎還不夠，這個落差就是問題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85750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5750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 問題意識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285750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85750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提出研究主軸、三個子問題與外部效度，並定義「價值」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子問題對應第三章設計與第四章驗證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 研究目的與貢獻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02336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02336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建立可重用引擎；量化真實分散與互補；落地監控調整系統；兩市場各自驗證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目的在三、四章落實，五章回頭檢視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518922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8922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 論文結構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518922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518922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依序說明第二至第五章如何回答前面的問題，附章節關係圖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下一章先回顧支撐設計的文獻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第二章：文獻支撐設計與驗證方法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四節文獻分別對應第三章的四塊內容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2.1 因子投資理論基礎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價值、獲利品質、成長、規模、財務結構等因子；缺專屬文獻者誠實交代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因子有理論，還要能被正確驗證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85750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5750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2.2 多因子模型與方法論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285750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85750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多重檢定、前視與倖存者偏誤、walk-forward；HRP 分群；有效獨立賭注數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方法用於分析，落地還要看監控文獻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2336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2.3 監控決策系統文獻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02336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02336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門檻式監控、覆蓋率監控、部分傾斜、人工覆核、LLM Agent 抗幻覺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監控有文獻背書，仍需衡量指標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5189220"/>
            <a:ext cx="3017520" cy="1028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89220"/>
            <a:ext cx="274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 績效與風險指標文獻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5189220"/>
            <a:ext cx="8074152" cy="102870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5189220"/>
            <a:ext cx="77083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主動比重、最大回撤、市場集中度的實證背景與衡量指標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文獻就位，進入第三章設計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第三章（一）：引擎與分析方法先行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先有可重複的策略來源，再談怎麼分析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2011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3.1 FCV 宣告式多因子回測引擎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SQ1 的產生端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20116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× C × V 宣告式組合；四階段 SOP，一次只開一個維度；台美各自獨立跑完整條線；引擎可擴展到任何市場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產出的龐大策略池，是 3.2 的分析對象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3017520" cy="2377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8404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3.2 研究部：策略池分析方法論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SQ1、SQ2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3840480"/>
            <a:ext cx="8074152" cy="237744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840480"/>
            <a:ext cx="77083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策略標記；HRP 分群，群數由輪廓係數客觀決定；獨立性與互補性的衡量；精選與全買、隨機、歷史贏家四組對照；樣本內外驗證。只講怎麼做，不講結果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有了方法才能答擴張與精選；靜態分析答不了調整，故接 3.3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第三章（二）：監控是多維度的偏離偵測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3.3.1 監控與動作框架（回答 SQ3 的設計）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2918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多維度偏離偵測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市值結構、熱門區段、回撤等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45920"/>
            <a:ext cx="411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48556" y="164592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8556" y="1645920"/>
            <a:ext cx="32918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8556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偏離類型與來源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風控層設上限護欄（3.3.2）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40396" y="1645920"/>
            <a:ext cx="411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6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94192" y="1645920"/>
            <a:ext cx="3291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645920"/>
            <a:ext cx="32918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31352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分層回應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不動 → 觀察 → 人工覆核 → 調整權重或代表策略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611880"/>
            <a:ext cx="111831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動機：精選組合在實戰模擬中仍可能偏離預期，需在運行中發現偏離並判斷來源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市值集中度是最先被驗證的案例；覆蓋率與回撤是同一框架下的其他維度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設計鐵則：已實現報酬與回撤這類結果變數，不能直接驅動持倉變更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5532120"/>
            <a:ext cx="11183112" cy="73152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5321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誠實標記：目前只有集中度調整有較完整的實證，其餘維度見 4.2.5。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第三章（三）：判斷要有護欄、要讓人看懂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3.3.2 風控層、3.3.3 解釋機制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2194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3.3.2 風控層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2194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單群、單標的、市場配置上限；校準監控；資料缺口警示。與 3.3.1 分工：外部偏離 vs 內部合規；誠實說明校準基準繼承候選池偏誤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產出的判斷，必須讓人看得懂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3017520" cy="21945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0233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3.3.3 解釋機制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4023360"/>
            <a:ext cx="8074152" cy="2194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4023360"/>
            <a:ext cx="7708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從單純轉譯程式結果，進化到能獨立判斷與說明；重點從「分散是假的」改成「為什麼這樣挑會有效」；七段式輸出；抗幻覺三原則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這套解釋可不可信，必須驗證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第三章（四）：解釋要可信，設計要有出處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3.3.4 前瞻驗證設計、3.3.5 法人治理設計、3.3.6 對照表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3.3.4 前瞻驗證設計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用訓練截止日之後的真實時點，繞過 LLM 背答案；四層驗證；持倉、權重、報酬全由程式算，LLM 只影響解釋與建議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解釋可信後，對接機構治理慣例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3.3.5 法人治理設計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324612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24612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查證真實治理材料，落地為政策聲明、持股差異、多方法對照、快慢時鐘；尚無獨立量化驗證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設計項目多，需要對照表交代證據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3.3.6 設計與驗證對照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80060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80060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每個設計機制對應第四章哪一節；誠實標示：有實證、間接證據、僅完成設計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第四章依此表逐項呈現證據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第四章（一）：先看策略池有多分散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4.1 候選池、4.2.1 策略池結構、4.2.2 精選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4.1 候選池建構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台美各自候選池與漏斗；因子補強規則刻意不同：台股參考了驗證期表現（探索性），美股只用統計顯著性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池子就位，先看它的結構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4.2.1 策略池結構：獨立性與互補性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 SQ1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324612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24612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有效獨立賭注數與市場 beta；群間相關與互補性，比較台–台、美–美、台–美；檢驗低相關是否等於「一賠一賺」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數量遠多於實質分散，精選為何仍有價值？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4.2.2 精選為什麼有效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 SQ2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80060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80060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對照全買、隨機、歷史贏家；三機制：保障不同群、跨窗口穩定、回撤品質；區分分散價值與報酬價值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精選有效，但因子構成影響實戰表現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第四章（二）：調整要用案例檢驗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4.2.3 ～ 4.2.5　回答 SQ3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4.2.3 排除估值濾網 V1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池層調整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23444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發現過程；排除後的實測與覆蓋率改善；揭露挑選依據與驗證期重疊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池層有幫助，持倉層調整是否有效？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3017520" cy="1783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4.2.4 調整機制案例：市值集中度調整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持倉層調整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3063240"/>
            <a:ext cx="8074152" cy="178308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063240"/>
            <a:ext cx="77083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先確認機制本身有效；再示範「提早啟動」補測後被推翻；最後呈現上限與權重公式取捨；定位為單一期間的探索性案例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核心案例完成，誠實列出缺證據項目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3017520" cy="1234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983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4.2.5 尚未獲實證支持的設計項目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983480"/>
            <a:ext cx="8074152" cy="123444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983480"/>
            <a:ext cx="7708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測試後力度不足而未採用；已實作但無歷史驗證；業界常見但尚未涵蓋的監控維度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台股完成，獨立驗證 LLM 解釋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第四章（三）：外部效度逐步檢驗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4.3 LLM 驗證、4.4 美股、4.5 跨市場比較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4.3 LLM 解釋 Agent 前瞻驗證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元件驗證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驗證時點在訓練截止日後；驗的是解釋文字與決策建議，不是報酬數字；四層結果逐項報告，含只做描述的部分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台股鏈與 LLM 驗證完成，問外部效度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4.4 美股實戰驗證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324612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24612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同方法論重建美股池與驗證鏈，不套用台股結論；持倉層調整因資料缺口無法檢驗，區分「測不了」與「不一致」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兩市場結果就位，用事先判準比較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4.5 跨市場比較與方法論一致性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80060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80060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先列可被否證的判準：哪些預期一致、哪些可不同、哪些無法檢驗；再逐項對照，含結構與互補性的跨市場對照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子問題全數回答，進入第五章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第五章：回扣問題並誠實交代限制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結論回指第一章，閉合整條敘事線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5.1 研究結論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94760" y="169164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回扣主軸、三個子問題與外部效度，每題一段結論；點出被自己推翻的中間結論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已回答，但仍有限制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5.2 研究限制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11880" y="324612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324612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資料偏誤；台股調整決策與驗證期重疊；集中度事件僅一段；監控維度僅涵蓋一部分；各條說明影響方向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部分限制可由後續研究處理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30175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5.3 未來研究方向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4800600"/>
            <a:ext cx="8074152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4800600"/>
            <a:ext cx="7708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未驗證機制的正式測試；擴充監控維度；匯率調整；風控與治理壓力測試；各附一句「為何現在沒做」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收束：以引擎為起點，透過量化分析與誠實驗證，回應緒論提出的問題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初步結果：擴張有限，精選有效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調整僅在特定條件有效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SQ1 擴張：分散有限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上萬策略僅約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3.55 ／ 4.91 ／ 6.18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個獨立賭注（台／美／跨市場）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同市場群間相關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0.702–0.990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，無互補；台美跨市場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0.394–0.552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賠錢年份另一群同賠：跨市場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80.95%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、同市場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78.72%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1396" y="16916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1396" y="169164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1396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SQ2 精選：優於全買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448556" y="2286000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 13 個窗口方案勝率皆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≥75%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（11 個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）；美股同向但較不穩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樣本內前 1% 策略的樣本外分位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0.685 ／ 0.810 ／ 0.778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（0.5＝無資訊）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691640"/>
            <a:ext cx="35661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9872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SQ3 調整：有條件有效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286000"/>
            <a:ext cx="3291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 V1：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+11.16%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+14.44%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集中度調整（案例）有觸發時：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+14.44%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+38.17%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「提早啟動」補測後被推翻：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−29.44 ～ −43.77pp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同期大盤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+70.56%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，仍落後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5532120"/>
            <a:ext cx="11183112" cy="68580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SQ1 互補性數字為本次依現行凍結檔重算；SQ3 的調整案例屬台股單一期間探索。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限制：台股調整屬探索性案例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結論需保守解讀，並誠實揭露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111831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台股三項決策與驗證期重疊，屬探索性案例</a:t>
            </a:r>
            <a:endParaRPr lang="en-US" sz="2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集中度事件僅一段（N=1），不作長期結論</a:t>
            </a:r>
            <a:endParaRPr lang="en-US" sz="2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美股市值資料斷流，持倉層調整「測不了」，不是「不一致」</a:t>
            </a:r>
            <a:endParaRPr lang="en-US" sz="2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候選池以全樣本篩選，樣本外絕對報酬被高估；美股也非完全獨立的確認</a:t>
            </a:r>
            <a:endParaRPr lang="en-US" sz="22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回撤觸發、代表策略置換尚無歷史驗證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5394960"/>
            <a:ext cx="11183112" cy="82296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3949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結論只在這些前提下成立；正文逐條說明各項限制的影響方向。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請老師拍板三件事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80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並預告一個月內的時程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766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67665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91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請老師確認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6309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一個主軸加三個子問題，是否恰當？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互補性（免費午餐）放在 SQ1，是否合適？</a:t>
            </a:r>
            <a:endParaRPr lang="en-US" sz="22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負面與未驗證的結果依現在方式誠實呈現，是否可以？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52360" y="1691640"/>
            <a:ext cx="42336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691640"/>
            <a:ext cx="4233672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52360" y="169164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331720"/>
            <a:ext cx="3776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月中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論文完稿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月中～底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安排口試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2920" y="5486400"/>
            <a:ext cx="11183112" cy="731520"/>
          </a:xfrm>
          <a:prstGeom prst="rect">
            <a:avLst/>
          </a:prstGeom>
          <a:solidFill>
            <a:srgbClr val="EFF3F7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4864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確認後即依此架構動筆；老師 10/6 要求先交大綱，這份簡報就是大綱的敘事版。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6A6A6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論文架構與敘事方向確認</dc:title>
  <dc:subject>PptxGenJS Presentation</dc:subject>
  <dc:creator>進度報告</dc:creator>
  <cp:lastModifiedBy>進度報告</cp:lastModifiedBy>
  <cp:revision>1</cp:revision>
  <dcterms:created xsi:type="dcterms:W3CDTF">2026-10-13T05:08:46Z</dcterms:created>
  <dcterms:modified xsi:type="dcterms:W3CDTF">2026-10-13T05:08:46Z</dcterms:modified>
</cp:coreProperties>
</file>