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F1957-51AC-4005-80D4-1C97999BD3A7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0C4C3-E260-463B-B1E3-37B5C0B515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65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77E03-360C-4E5E-BE86-11B3EB4D4F14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510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0631-D895-4E9B-ACFA-5586E766EB48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7836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23DE-CA90-4D27-94AF-CAB38DF54DD3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859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7A03-8154-457B-B33B-38DD224D4D57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96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BB60-FCCF-4CE9-BA8E-454A514D9C8A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43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C8E3-2651-4295-8FB9-DA90336A7D28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16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77E85-B1BF-4AC6-9A3B-F7963BC82160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28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D585F-ECA1-48FF-ABF5-9674A2C22150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02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BD0CF-FE4B-48A2-A004-116323C9A54F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48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7D5E8-70B4-490B-9DDA-E8EB7B1608D1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134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D42BB-D9DD-47BC-A423-7AE36326C331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1494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BF01B-7AE7-41B5-9459-6E26E7817B47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0827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6BE5-3A7F-4461-9F02-EA425C61CB1B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6819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5EEA-1BC4-4CB1-A769-85414F1F390C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494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7153-D164-4AEF-89F2-7BA989088130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1763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33EA5-1F42-4798-80AF-7D2AD97011E9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03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254B0-9217-48B3-BA5C-B9438BD8BE22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8734EC4-A442-49C1-BEA8-563ACD0EFF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79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dirty="0"/>
              <a:t>四階段的通用AI 協作學習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sz="3600" dirty="0"/>
              <a:t>Kevin Hsu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/>
              <a:t>護腦 · 速學 · 賦能 · 超越</a:t>
            </a:r>
          </a:p>
          <a:p>
            <a:pPr marL="0" indent="0">
              <a:buNone/>
            </a:pPr>
            <a:r>
              <a:rPr lang="zh-TW" altLang="en-US" sz="1600" dirty="0"/>
              <a:t>操作型定義、主次項目與驗收條件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這是什麼，以及為什麼要補上操作型定義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2589212" y="1950000"/>
            <a:ext cx="8915400" cy="45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650" dirty="0"/>
              <a:t>改編自李海碩「AI 學習法」五階段：專注／護腦／速學／賦能／超越</a:t>
            </a:r>
          </a:p>
          <a:p>
            <a:pPr>
              <a:spcBef>
                <a:spcPts val="600"/>
              </a:spcBef>
            </a:pPr>
            <a:r>
              <a:rPr lang="zh-TW" altLang="en-US" sz="1650" dirty="0"/>
              <a:t>原課程面向中學生；本課跳過「專注」，取用後四階段</a:t>
            </a:r>
          </a:p>
          <a:p>
            <a:pPr>
              <a:spcBef>
                <a:spcPts val="600"/>
              </a:spcBef>
            </a:pPr>
            <a:r>
              <a:rPr lang="zh-TW" altLang="en-US" sz="1650" b="1" dirty="0"/>
              <a:t>原架構的缺口</a:t>
            </a:r>
            <a:r>
              <a:rPr lang="zh-TW" altLang="en-US" sz="1650" dirty="0"/>
              <a:t>：階段名稱清楚，但缺乏操作型原則——不知道做到什麼程度才算做到，也無從驗收</a:t>
            </a:r>
          </a:p>
          <a:p>
            <a:pPr>
              <a:spcBef>
                <a:spcPts val="600"/>
              </a:spcBef>
            </a:pPr>
            <a:r>
              <a:rPr lang="zh-TW" altLang="en-US" sz="1650" b="1" dirty="0"/>
              <a:t>本版補上四樣東西</a:t>
            </a:r>
            <a:r>
              <a:rPr lang="zh-TW" altLang="en-US" sz="1650" dirty="0"/>
              <a:t>：主要／次要項目、建議動作、建議產出、通關檢核</a:t>
            </a:r>
          </a:p>
          <a:p>
            <a:pPr>
              <a:spcBef>
                <a:spcPts val="600"/>
              </a:spcBef>
            </a:pPr>
            <a:r>
              <a:rPr lang="zh-TW" altLang="en-US" sz="1650" b="1" dirty="0">
                <a:solidFill>
                  <a:srgbClr val="2E5369"/>
                </a:solidFill>
              </a:rPr>
              <a:t>適用範圍不限個案</a:t>
            </a:r>
            <a:r>
              <a:rPr lang="zh-TW" altLang="en-US" sz="1650" dirty="0">
                <a:solidFill>
                  <a:srgbClr val="2E5369"/>
                </a:solidFill>
              </a:rPr>
              <a:t>：讀一篇論文、學一項新技術、接手一份沒人懂的舊系統，都能直接套用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全貌：四個階段是一條產物鏈</a:t>
            </a:r>
          </a:p>
        </p:txBody>
      </p:sp>
      <p:sp>
        <p:nvSpPr>
          <p:cNvPr id="10" name="Shape 10"/>
          <p:cNvSpPr/>
          <p:nvPr/>
        </p:nvSpPr>
        <p:spPr>
          <a:xfrm>
            <a:off x="2400000" y="2150000"/>
            <a:ext cx="1980000" cy="780000"/>
          </a:xfrm>
          <a:prstGeom prst="roundRect">
            <a:avLst/>
          </a:prstGeom>
          <a:solidFill>
            <a:srgbClr val="26599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2200" b="1" dirty="0">
                <a:solidFill>
                  <a:srgbClr val="FFFFFF"/>
                </a:solidFill>
              </a:rPr>
              <a:t>護腦</a:t>
            </a:r>
          </a:p>
        </p:txBody>
      </p:sp>
      <p:sp>
        <p:nvSpPr>
          <p:cNvPr id="11" name="Shape 11"/>
          <p:cNvSpPr/>
          <p:nvPr/>
        </p:nvSpPr>
        <p:spPr>
          <a:xfrm>
            <a:off x="2400000" y="3080000"/>
            <a:ext cx="1980000" cy="1150000"/>
          </a:xfrm>
          <a:prstGeom prst="roundRect">
            <a:avLst/>
          </a:prstGeom>
          <a:solidFill>
            <a:srgbClr val="DCEAF0"/>
          </a:solidFill>
          <a:ln w="12700">
            <a:solidFill>
              <a:srgbClr val="9BB7C4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1300" dirty="0">
                <a:solidFill>
                  <a:srgbClr val="2E5369"/>
                </a:solidFill>
              </a:rPr>
              <a:t>作戰計畫</a:t>
            </a:r>
          </a:p>
        </p:txBody>
      </p:sp>
      <p:sp>
        <p:nvSpPr>
          <p:cNvPr id="12" name="Shape 12"/>
          <p:cNvSpPr/>
          <p:nvPr/>
        </p:nvSpPr>
        <p:spPr>
          <a:xfrm>
            <a:off x="4760000" y="2150000"/>
            <a:ext cx="1980000" cy="780000"/>
          </a:xfrm>
          <a:prstGeom prst="roundRect">
            <a:avLst/>
          </a:prstGeom>
          <a:solidFill>
            <a:srgbClr val="1E7FA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2200" b="1" dirty="0">
                <a:solidFill>
                  <a:srgbClr val="FFFFFF"/>
                </a:solidFill>
              </a:rPr>
              <a:t>速學</a:t>
            </a:r>
          </a:p>
        </p:txBody>
      </p:sp>
      <p:sp>
        <p:nvSpPr>
          <p:cNvPr id="13" name="Shape 13"/>
          <p:cNvSpPr/>
          <p:nvPr/>
        </p:nvSpPr>
        <p:spPr>
          <a:xfrm>
            <a:off x="4760000" y="3080000"/>
            <a:ext cx="1980000" cy="1150000"/>
          </a:xfrm>
          <a:prstGeom prst="roundRect">
            <a:avLst/>
          </a:prstGeom>
          <a:solidFill>
            <a:srgbClr val="DCEAF0"/>
          </a:solidFill>
          <a:ln w="12700">
            <a:solidFill>
              <a:srgbClr val="9BB7C4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1300" dirty="0">
                <a:solidFill>
                  <a:srgbClr val="2E5369"/>
                </a:solidFill>
              </a:rPr>
              <a:t>啟動資料</a:t>
            </a:r>
          </a:p>
          <a:p>
            <a:pPr algn="ctr">
              <a:spcBef>
                <a:spcPts val="0"/>
              </a:spcBef>
              <a:buNone/>
            </a:pPr>
            <a:r>
              <a:rPr lang="zh-TW" altLang="en-US" sz="1300" dirty="0">
                <a:solidFill>
                  <a:srgbClr val="2E5369"/>
                </a:solidFill>
              </a:rPr>
              <a:t>求知 SOP</a:t>
            </a:r>
          </a:p>
          <a:p>
            <a:pPr algn="ctr">
              <a:spcBef>
                <a:spcPts val="0"/>
              </a:spcBef>
              <a:buNone/>
            </a:pPr>
            <a:r>
              <a:rPr lang="zh-TW" altLang="en-US" sz="1300" dirty="0">
                <a:solidFill>
                  <a:srgbClr val="2E5369"/>
                </a:solidFill>
              </a:rPr>
              <a:t>素材</a:t>
            </a:r>
          </a:p>
        </p:txBody>
      </p:sp>
      <p:sp>
        <p:nvSpPr>
          <p:cNvPr id="14" name="Shape 14"/>
          <p:cNvSpPr/>
          <p:nvPr/>
        </p:nvSpPr>
        <p:spPr>
          <a:xfrm>
            <a:off x="7540000" y="2150000"/>
            <a:ext cx="1980000" cy="780000"/>
          </a:xfrm>
          <a:prstGeom prst="roundRect">
            <a:avLst/>
          </a:prstGeom>
          <a:solidFill>
            <a:srgbClr val="1E7FA8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2200" b="1" dirty="0">
                <a:solidFill>
                  <a:srgbClr val="FFFFFF"/>
                </a:solidFill>
              </a:rPr>
              <a:t>賦能</a:t>
            </a:r>
          </a:p>
        </p:txBody>
      </p:sp>
      <p:sp>
        <p:nvSpPr>
          <p:cNvPr id="15" name="Shape 15"/>
          <p:cNvSpPr/>
          <p:nvPr/>
        </p:nvSpPr>
        <p:spPr>
          <a:xfrm>
            <a:off x="7540000" y="3080000"/>
            <a:ext cx="1980000" cy="1150000"/>
          </a:xfrm>
          <a:prstGeom prst="roundRect">
            <a:avLst/>
          </a:prstGeom>
          <a:solidFill>
            <a:srgbClr val="DCEAF0"/>
          </a:solidFill>
          <a:ln w="12700">
            <a:solidFill>
              <a:srgbClr val="9BB7C4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1300" dirty="0">
                <a:solidFill>
                  <a:srgbClr val="2E5369"/>
                </a:solidFill>
              </a:rPr>
              <a:t>錨點結構</a:t>
            </a:r>
          </a:p>
          <a:p>
            <a:pPr algn="ctr">
              <a:spcBef>
                <a:spcPts val="0"/>
              </a:spcBef>
              <a:buNone/>
            </a:pPr>
            <a:r>
              <a:rPr lang="zh-TW" altLang="en-US" sz="1300" dirty="0">
                <a:solidFill>
                  <a:srgbClr val="2E5369"/>
                </a:solidFill>
              </a:rPr>
              <a:t>推理結構</a:t>
            </a:r>
          </a:p>
        </p:txBody>
      </p:sp>
      <p:sp>
        <p:nvSpPr>
          <p:cNvPr id="16" name="Shape 16"/>
          <p:cNvSpPr/>
          <p:nvPr/>
        </p:nvSpPr>
        <p:spPr>
          <a:xfrm>
            <a:off x="9900000" y="2150000"/>
            <a:ext cx="1980000" cy="780000"/>
          </a:xfrm>
          <a:prstGeom prst="roundRect">
            <a:avLst/>
          </a:prstGeom>
          <a:solidFill>
            <a:srgbClr val="2E5369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2200" b="1" dirty="0">
                <a:solidFill>
                  <a:srgbClr val="FFFFFF"/>
                </a:solidFill>
              </a:rPr>
              <a:t>超越</a:t>
            </a:r>
          </a:p>
        </p:txBody>
      </p:sp>
      <p:sp>
        <p:nvSpPr>
          <p:cNvPr id="17" name="Shape 17"/>
          <p:cNvSpPr/>
          <p:nvPr/>
        </p:nvSpPr>
        <p:spPr>
          <a:xfrm>
            <a:off x="9900000" y="3080000"/>
            <a:ext cx="1980000" cy="1150000"/>
          </a:xfrm>
          <a:prstGeom prst="roundRect">
            <a:avLst/>
          </a:prstGeom>
          <a:solidFill>
            <a:srgbClr val="DCEAF0"/>
          </a:solidFill>
          <a:ln w="12700">
            <a:solidFill>
              <a:srgbClr val="9BB7C4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1300" dirty="0">
                <a:solidFill>
                  <a:srgbClr val="2E5369"/>
                </a:solidFill>
              </a:rPr>
              <a:t>擾動後的</a:t>
            </a:r>
          </a:p>
          <a:p>
            <a:pPr algn="ctr">
              <a:spcBef>
                <a:spcPts val="0"/>
              </a:spcBef>
              <a:buNone/>
            </a:pPr>
            <a:r>
              <a:rPr lang="zh-TW" altLang="en-US" sz="1300" dirty="0">
                <a:solidFill>
                  <a:srgbClr val="2E5369"/>
                </a:solidFill>
              </a:rPr>
              <a:t>新版本</a:t>
            </a:r>
          </a:p>
        </p:txBody>
      </p:sp>
      <p:sp>
        <p:nvSpPr>
          <p:cNvPr id="18" name="Shape 18"/>
          <p:cNvSpPr/>
          <p:nvPr/>
        </p:nvSpPr>
        <p:spPr>
          <a:xfrm>
            <a:off x="4450000" y="2390000"/>
            <a:ext cx="240000" cy="300000"/>
          </a:xfrm>
          <a:prstGeom prst="rightArrow">
            <a:avLst/>
          </a:prstGeom>
          <a:solidFill>
            <a:srgbClr val="9BB7C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endParaRPr lang="zh-TW"/>
          </a:p>
        </p:txBody>
      </p:sp>
      <p:sp>
        <p:nvSpPr>
          <p:cNvPr id="19" name="Shape 19"/>
          <p:cNvSpPr/>
          <p:nvPr/>
        </p:nvSpPr>
        <p:spPr>
          <a:xfrm>
            <a:off x="6800000" y="2350000"/>
            <a:ext cx="680000" cy="380000"/>
          </a:xfrm>
          <a:prstGeom prst="leftRightArrow">
            <a:avLst/>
          </a:prstGeom>
          <a:solidFill>
            <a:srgbClr val="31B4E6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endParaRPr lang="zh-TW"/>
          </a:p>
        </p:txBody>
      </p:sp>
      <p:sp>
        <p:nvSpPr>
          <p:cNvPr id="20" name="Shape 20"/>
          <p:cNvSpPr/>
          <p:nvPr/>
        </p:nvSpPr>
        <p:spPr>
          <a:xfrm>
            <a:off x="9590000" y="2390000"/>
            <a:ext cx="240000" cy="300000"/>
          </a:xfrm>
          <a:prstGeom prst="rightArrow">
            <a:avLst/>
          </a:prstGeom>
          <a:solidFill>
            <a:srgbClr val="9BB7C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endParaRPr lang="zh-TW"/>
          </a:p>
        </p:txBody>
      </p:sp>
      <p:sp>
        <p:nvSpPr>
          <p:cNvPr id="21" name="Content Placeholder 21"/>
          <p:cNvSpPr>
            <a:spLocks noGrp="1"/>
          </p:cNvSpPr>
          <p:nvPr>
            <p:ph idx="1"/>
          </p:nvPr>
        </p:nvSpPr>
        <p:spPr>
          <a:xfrm>
            <a:off x="2400000" y="4500000"/>
            <a:ext cx="9500000" cy="17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500" dirty="0"/>
              <a:t>前一階段的</a:t>
            </a:r>
            <a:r>
              <a:rPr lang="zh-TW" altLang="en-US" sz="1500" b="1" dirty="0"/>
              <a:t>出口</a:t>
            </a:r>
            <a:r>
              <a:rPr lang="zh-TW" altLang="en-US" sz="1500" dirty="0"/>
              <a:t>就是後一階段的</a:t>
            </a:r>
            <a:r>
              <a:rPr lang="zh-TW" altLang="en-US" sz="1500" b="1" dirty="0"/>
              <a:t>入口</a:t>
            </a:r>
            <a:r>
              <a:rPr lang="zh-TW" altLang="en-US" sz="1500" dirty="0"/>
              <a:t>；缺了哪一格，下一階段會卡住</a:t>
            </a:r>
          </a:p>
          <a:p>
            <a:pPr>
              <a:spcBef>
                <a:spcPts val="600"/>
              </a:spcBef>
            </a:pPr>
            <a:r>
              <a:rPr lang="zh-TW" altLang="en-US" sz="1500" dirty="0"/>
              <a:t>速學與賦能之間是</a:t>
            </a:r>
            <a:r>
              <a:rPr lang="zh-TW" altLang="en-US" sz="1500" b="1" dirty="0"/>
              <a:t>來回</a:t>
            </a:r>
            <a:r>
              <a:rPr lang="zh-TW" altLang="en-US" sz="1500" dirty="0"/>
              <a:t>，不是單向；超越的結果</a:t>
            </a:r>
            <a:r>
              <a:rPr lang="zh-TW" altLang="en-US" sz="1500" b="1" dirty="0"/>
              <a:t>回填</a:t>
            </a:r>
            <a:r>
              <a:rPr lang="zh-TW" altLang="en-US" sz="1500" dirty="0"/>
              <a:t>賦能的資產</a:t>
            </a:r>
          </a:p>
          <a:p>
            <a:pPr>
              <a:spcBef>
                <a:spcPts val="600"/>
              </a:spcBef>
            </a:pPr>
            <a:r>
              <a:rPr lang="zh-TW" altLang="en-US" sz="1500" dirty="0">
                <a:solidFill>
                  <a:srgbClr val="2E5369"/>
                </a:solidFill>
              </a:rPr>
              <a:t>所以整體是螺旋，不是直線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四個難度等級，決定你走哪一條路線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400000" y="2050000"/>
          <a:ext cx="95000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50" b="1" dirty="0">
                          <a:solidFill>
                            <a:srgbClr val="FFFFFF"/>
                          </a:solidFill>
                        </a:rPr>
                        <a:t>等級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50" b="1" dirty="0">
                          <a:solidFill>
                            <a:srgbClr val="FFFFFF"/>
                          </a:solidFill>
                        </a:rPr>
                        <a:t>你的狀態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50" b="1" dirty="0">
                          <a:solidFill>
                            <a:srgbClr val="FFFFFF"/>
                          </a:solidFill>
                        </a:rPr>
                        <a:t>主要在哪些階段來回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L1 簡單的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早就會，只是花時間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賦能為主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L2 你懂的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懂七成，細節說不清楚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速學 ⇄ 賦能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L3 你幾乎不懂的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只認得名詞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護腦 + 速學 + 賦能 三方來回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L4 你完全不知道的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連名詞都陌生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先建地圖，再降級成 L3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20"/>
          <p:cNvSpPr/>
          <p:nvPr/>
        </p:nvSpPr>
        <p:spPr>
          <a:xfrm>
            <a:off x="2400000" y="5300000"/>
            <a:ext cx="9500000" cy="900000"/>
          </a:xfrm>
          <a:prstGeom prst="roundRect">
            <a:avLst/>
          </a:prstGeom>
          <a:solidFill>
            <a:srgbClr val="2E5369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1650" b="1" dirty="0">
                <a:solidFill>
                  <a:srgbClr val="FFFFFF"/>
                </a:solidFill>
              </a:rPr>
              <a:t>定級不是貼標籤，是決定路線——護腦的第一件事就是定級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一、護腦｜先想清楚，再決定怎麼跟 AI 分工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400000" y="1950000"/>
          <a:ext cx="9500000" cy="1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50" b="1" dirty="0">
                          <a:solidFill>
                            <a:srgbClr val="FFFFFF"/>
                          </a:solidFill>
                        </a:rPr>
                        <a:t>主要項目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50" b="1" dirty="0">
                          <a:solidFill>
                            <a:srgbClr val="FFFFFF"/>
                          </a:solidFill>
                        </a:rPr>
                        <a:t>建議動作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50" b="1" dirty="0">
                          <a:solidFill>
                            <a:srgbClr val="FFFFFF"/>
                          </a:solidFill>
                        </a:rPr>
                        <a:t>建議產出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先人後機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三分鐘內寫下初判，不查任何資料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初判卡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共學規劃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定級、選目標維度、分工、設停損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一頁作戰計畫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Content Placeholder 20"/>
          <p:cNvSpPr>
            <a:spLocks noGrp="1"/>
          </p:cNvSpPr>
          <p:nvPr>
            <p:ph idx="1"/>
          </p:nvPr>
        </p:nvSpPr>
        <p:spPr>
          <a:xfrm>
            <a:off x="2400000" y="3850000"/>
            <a:ext cx="9500000" cy="24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500" b="1" dirty="0"/>
              <a:t>大意</a:t>
            </a:r>
            <a:r>
              <a:rPr lang="zh-TW" altLang="en-US" sz="1500" dirty="0"/>
              <a:t>：護腦不只是「先自己想」，它是這一輪學習的作戰計畫。先判斷難度、決定要學到什麼程度、規劃跟 AI 怎麼分工——後面三階段才知道要做到什麼深度</a:t>
            </a:r>
          </a:p>
          <a:p>
            <a:pPr>
              <a:spcBef>
                <a:spcPts val="600"/>
              </a:spcBef>
            </a:pPr>
            <a:r>
              <a:rPr lang="zh-TW" altLang="en-US" sz="1500" b="1" dirty="0"/>
              <a:t>次要項目</a:t>
            </a:r>
            <a:r>
              <a:rPr lang="zh-TW" altLang="en-US" sz="1500" dirty="0"/>
              <a:t>：假設外顯與歧義標記、缺席盤點、蘇格拉底模式（要求 AI 只提問不給答案）、PME 自我監控</a:t>
            </a:r>
          </a:p>
          <a:p>
            <a:pPr>
              <a:spcBef>
                <a:spcPts val="600"/>
              </a:spcBef>
            </a:pPr>
            <a:r>
              <a:rPr lang="zh-TW" altLang="en-US" sz="1500" b="1" dirty="0">
                <a:solidFill>
                  <a:srgbClr val="2E5369"/>
                </a:solidFill>
              </a:rPr>
              <a:t>常見失敗</a:t>
            </a:r>
            <a:r>
              <a:rPr lang="zh-TW" altLang="en-US" sz="1500" dirty="0">
                <a:solidFill>
                  <a:srgbClr val="2E5369"/>
                </a:solidFill>
              </a:rPr>
              <a:t>：把 L2 當成 L1。熟悉感是假的——每天在用的東西，不代表你懂它的結構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護腦的核心產物：一頁作戰計畫（四行）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2589212" y="2100000"/>
            <a:ext cx="8915400" cy="29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600" b="1" dirty="0"/>
              <a:t>① 等級判斷</a:t>
            </a:r>
            <a:r>
              <a:rPr lang="zh-TW" altLang="en-US" sz="1600" dirty="0"/>
              <a:t>　這個對象對我是 L1／L2／L3／L4，依據是什麼——這也就決定了我要在哪幾階段來回</a:t>
            </a:r>
          </a:p>
          <a:p>
            <a:pPr>
              <a:spcBef>
                <a:spcPts val="600"/>
              </a:spcBef>
            </a:pPr>
            <a:r>
              <a:rPr lang="zh-TW" altLang="en-US" sz="1600" b="1" dirty="0"/>
              <a:t>② 目標維度</a:t>
            </a:r>
            <a:r>
              <a:rPr lang="zh-TW" altLang="en-US" sz="1600" dirty="0"/>
              <a:t>　這一輪要做到人／事／時／地／物哪一個超越，為什麼挑它</a:t>
            </a:r>
          </a:p>
          <a:p>
            <a:pPr>
              <a:spcBef>
                <a:spcPts val="600"/>
              </a:spcBef>
            </a:pPr>
            <a:r>
              <a:rPr lang="zh-TW" altLang="en-US" sz="1600" b="1" dirty="0"/>
              <a:t>③ 分工</a:t>
            </a:r>
            <a:r>
              <a:rPr lang="zh-TW" altLang="en-US" sz="1600" dirty="0"/>
              <a:t>　哪些我先做、哪些 AI 先做、哪些兩邊各一版再比對</a:t>
            </a:r>
          </a:p>
          <a:p>
            <a:pPr>
              <a:spcBef>
                <a:spcPts val="600"/>
              </a:spcBef>
            </a:pPr>
            <a:r>
              <a:rPr lang="zh-TW" altLang="en-US" sz="1600" b="1" dirty="0"/>
              <a:t>④ 停損</a:t>
            </a:r>
            <a:r>
              <a:rPr lang="zh-TW" altLang="en-US" sz="1600" dirty="0"/>
              <a:t>　什麼情況表示我定級錯了，要重新定級</a:t>
            </a:r>
          </a:p>
        </p:txBody>
      </p:sp>
      <p:sp>
        <p:nvSpPr>
          <p:cNvPr id="20" name="Shape 20"/>
          <p:cNvSpPr/>
          <p:nvPr/>
        </p:nvSpPr>
        <p:spPr>
          <a:xfrm>
            <a:off x="2400000" y="5150000"/>
            <a:ext cx="9500000" cy="950000"/>
          </a:xfrm>
          <a:prstGeom prst="roundRect">
            <a:avLst/>
          </a:prstGeom>
          <a:solidFill>
            <a:srgbClr val="DCEAF0"/>
          </a:solidFill>
          <a:ln w="12700">
            <a:solidFill>
              <a:srgbClr val="9BB7C4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1600" b="1" dirty="0">
                <a:solidFill>
                  <a:srgbClr val="2E5369"/>
                </a:solidFill>
              </a:rPr>
              <a:t>第 ④ 行不能省：把 L2 誤判成 L1，是所有翻車的起點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二、速學｜把材料餵對，走出自己的求知路徑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400000" y="1810000"/>
          <a:ext cx="950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</a:rPr>
                        <a:t>主要項目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</a:rPr>
                        <a:t>建議動作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</a:rPr>
                        <a:t>建議產出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設定啟動資料</a:t>
                      </a: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（入口）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先問 AI 已經知道什麼，再決定餵不餵；凡要餵的，宣告「以此為準、不得補充材料中沒有的條件」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啟動資料決策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選重點</a:t>
                      </a: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（定方向）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先寫下核心問題，據此把材料分三堆：非讀不可／掃過即可／不必讀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分堆表＋依據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最初理解路徑</a:t>
                      </a: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（核心）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求初步解釋／求邏輯／求範例／求學習步驟／求推理；每輪先自己猜再看 AI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你自己的求知 SOP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留下賦能素材</a:t>
                      </a: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（出口）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記下：哪個問題問了不只一次？哪個檢查做了才發現重要？哪裡一開始想錯？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素材便條 ≥3 則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Content Placeholder 20"/>
          <p:cNvSpPr>
            <a:spLocks noGrp="1"/>
          </p:cNvSpPr>
          <p:nvPr>
            <p:ph idx="1"/>
          </p:nvPr>
        </p:nvSpPr>
        <p:spPr>
          <a:xfrm>
            <a:off x="2400000" y="5030000"/>
            <a:ext cx="9500000" cy="16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400" b="1" dirty="0"/>
              <a:t>大意</a:t>
            </a:r>
            <a:r>
              <a:rPr lang="zh-TW" altLang="en-US" sz="1400" dirty="0"/>
              <a:t>：速學處理的是「這一個」——這一次的材料、術語、圖表、程式碼，換一個對象就過期。重點不是讀完，是走出一條自己走得通的理解路徑</a:t>
            </a:r>
          </a:p>
          <a:p>
            <a:pPr>
              <a:spcBef>
                <a:spcPts val="600"/>
              </a:spcBef>
            </a:pPr>
            <a:r>
              <a:rPr lang="zh-TW" altLang="en-US" sz="1400" b="1" dirty="0"/>
              <a:t>次要項目</a:t>
            </a:r>
            <a:r>
              <a:rPr lang="zh-TW" altLang="en-US" sz="1400" dirty="0"/>
              <a:t>：結構化表徵（心智圖／對照表／因果鏈，形式自選）、編碼、對照找落差、設計 AI 協作方式、鞏固與監控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設定啟動資料：先問，再決定餵不餵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400000" y="2350000"/>
          <a:ext cx="95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</a:rPr>
                        <a:t>情況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</a:rPr>
                        <a:t>怎麼判斷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</a:rPr>
                        <a:t>做法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50" b="1" dirty="0">
                          <a:solidFill>
                            <a:srgbClr val="3F3F3F"/>
                          </a:solidFill>
                        </a:rPr>
                        <a:t>(a) 它已經夠熟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50" dirty="0">
                          <a:solidFill>
                            <a:srgbClr val="3F3F3F"/>
                          </a:solidFill>
                        </a:rPr>
                        <a:t>公開、成熟、變動不大的對象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50" dirty="0">
                          <a:solidFill>
                            <a:srgbClr val="3F3F3F"/>
                          </a:solidFill>
                        </a:rPr>
                        <a:t>不餵，直接對話——省 token，而且看得到它原本的認知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50" b="1" dirty="0">
                          <a:solidFill>
                            <a:srgbClr val="3F3F3F"/>
                          </a:solidFill>
                        </a:rPr>
                        <a:t>(b) 它半懂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50" dirty="0">
                          <a:solidFill>
                            <a:srgbClr val="3F3F3F"/>
                          </a:solidFill>
                        </a:rPr>
                        <a:t>通則熟、細節或最新狀況不熟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50" dirty="0">
                          <a:solidFill>
                            <a:srgbClr val="3F3F3F"/>
                          </a:solidFill>
                        </a:rPr>
                        <a:t>只補缺的那部分與最新的部分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50" b="1" dirty="0">
                          <a:solidFill>
                            <a:srgbClr val="3F3F3F"/>
                          </a:solidFill>
                        </a:rPr>
                        <a:t>(c) 它不熟或會編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50" dirty="0">
                          <a:solidFill>
                            <a:srgbClr val="3F3F3F"/>
                          </a:solidFill>
                        </a:rPr>
                        <a:t>冷門、專屬、或你的組織內部的東西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50" dirty="0">
                          <a:solidFill>
                            <a:srgbClr val="3F3F3F"/>
                          </a:solidFill>
                        </a:rPr>
                        <a:t>整份餵進去，並宣告以此為準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Content Placeholder 20"/>
          <p:cNvSpPr>
            <a:spLocks noGrp="1"/>
          </p:cNvSpPr>
          <p:nvPr>
            <p:ph idx="1"/>
          </p:nvPr>
        </p:nvSpPr>
        <p:spPr>
          <a:xfrm>
            <a:off x="2400000" y="5050000"/>
            <a:ext cx="9500000" cy="16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500" b="1" dirty="0"/>
              <a:t>開場就問</a:t>
            </a:r>
            <a:r>
              <a:rPr lang="zh-TW" altLang="en-US" sz="1500" dirty="0"/>
              <a:t>：「在我提供任何材料之前，你對這個對象知道多少？把握程度如何？資料大概到什麼時候？」</a:t>
            </a:r>
          </a:p>
          <a:p>
            <a:pPr>
              <a:spcBef>
                <a:spcPts val="600"/>
              </a:spcBef>
            </a:pPr>
            <a:r>
              <a:rPr lang="zh-TW" altLang="en-US" sz="1500" b="1" dirty="0"/>
              <a:t>抽查</a:t>
            </a:r>
            <a:r>
              <a:rPr lang="zh-TW" altLang="en-US" sz="1500" dirty="0"/>
              <a:t>：挑兩三個你查得到的具體細節問它，答錯就降級到 (b) 或 (c)</a:t>
            </a:r>
          </a:p>
          <a:p>
            <a:pPr>
              <a:spcBef>
                <a:spcPts val="600"/>
              </a:spcBef>
            </a:pPr>
            <a:r>
              <a:rPr lang="zh-TW" altLang="en-US" sz="1500" b="1" dirty="0">
                <a:solidFill>
                  <a:srgbClr val="2E5369"/>
                </a:solidFill>
              </a:rPr>
              <a:t>常見失敗</a:t>
            </a:r>
            <a:r>
              <a:rPr lang="zh-TW" altLang="en-US" sz="1500" dirty="0">
                <a:solidFill>
                  <a:srgbClr val="2E5369"/>
                </a:solidFill>
              </a:rPr>
              <a:t>：不分青紅皂白全餵。它熟的東西整份餵只是塞滿上下文；它不熟的東西沒餵，它會流暢地編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三、賦能｜認出背後的學科，把過程固化成資產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400000" y="1810000"/>
          <a:ext cx="950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</a:rPr>
                        <a:t>主要項目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</a:rPr>
                        <a:t>建議動作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</a:rPr>
                        <a:t>建議產出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設定錨點知識結構</a:t>
                      </a: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（入口）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我剛剛其實在用哪一門學問？命名它，取得該學科的標準框架，檢查自己漏了哪幾格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學科聲明＋框架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拆解並改造</a:t>
                      </a: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推理結構（核心）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要求 AI 把推理完整攤開，再逐條改造成適合你的版本，然後用新結構重跑比對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原始結構＋修訂版＋理由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與速學來回</a:t>
                      </a: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（核心）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發現材料不足或自己有洞，退回速學補，補完再回來改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迭代紀錄 ≥3 輪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版本化與累積</a:t>
                      </a: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b="1" dirty="0">
                          <a:solidFill>
                            <a:srgbClr val="3F3F3F"/>
                          </a:solidFill>
                        </a:rPr>
                        <a:t>（出口）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錨點結構與修訂後的推理結構存進知識庫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200" dirty="0">
                          <a:solidFill>
                            <a:srgbClr val="3F3F3F"/>
                          </a:solidFill>
                        </a:rPr>
                        <a:t>可追溯的版本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Content Placeholder 20"/>
          <p:cNvSpPr>
            <a:spLocks noGrp="1"/>
          </p:cNvSpPr>
          <p:nvPr>
            <p:ph idx="1"/>
          </p:nvPr>
        </p:nvSpPr>
        <p:spPr>
          <a:xfrm>
            <a:off x="2400000" y="4870000"/>
            <a:ext cx="9500000" cy="17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400" b="1" dirty="0"/>
              <a:t>大意</a:t>
            </a:r>
            <a:r>
              <a:rPr lang="zh-TW" altLang="en-US" sz="1400" dirty="0"/>
              <a:t>：賦能處理的是「這一類」——背後是哪一門學問在支撐。學科可攜，換對象還在。產物是一台推理引擎，也是超越階段唯一的測試對象</a:t>
            </a:r>
          </a:p>
          <a:p>
            <a:pPr>
              <a:spcBef>
                <a:spcPts val="600"/>
              </a:spcBef>
            </a:pPr>
            <a:r>
              <a:rPr lang="zh-TW" altLang="en-US" sz="1400" b="1" dirty="0">
                <a:solidFill>
                  <a:srgbClr val="2E5369"/>
                </a:solidFill>
              </a:rPr>
              <a:t>硬檢核</a:t>
            </a:r>
            <a:r>
              <a:rPr lang="zh-TW" altLang="en-US" sz="1400" dirty="0">
                <a:solidFill>
                  <a:srgbClr val="2E5369"/>
                </a:solidFill>
              </a:rPr>
              <a:t>：把這套資產交給沒接觸過這個對象的人、或一段乾淨的 AI 對話，他能不能產出可接受的答案？不行，表示關鍵還留在你腦子裡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賦能的核心：拆解並改造 AI 的推理結構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2589212" y="1950000"/>
            <a:ext cx="8915400" cy="34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600" b="1" dirty="0"/>
              <a:t>①</a:t>
            </a:r>
            <a:r>
              <a:rPr lang="zh-TW" altLang="en-US" sz="1600" dirty="0"/>
              <a:t> 你剛才是依序考慮了哪些因素？請按順序列出</a:t>
            </a:r>
          </a:p>
          <a:p>
            <a:pPr>
              <a:spcBef>
                <a:spcPts val="600"/>
              </a:spcBef>
            </a:pPr>
            <a:r>
              <a:rPr lang="zh-TW" altLang="en-US" sz="1600" b="1" dirty="0"/>
              <a:t>②</a:t>
            </a:r>
            <a:r>
              <a:rPr lang="zh-TW" altLang="en-US" sz="1600" dirty="0"/>
              <a:t> 每一步的依據是材料給的，還是你自己補的？分開標</a:t>
            </a:r>
          </a:p>
          <a:p>
            <a:pPr>
              <a:spcBef>
                <a:spcPts val="600"/>
              </a:spcBef>
            </a:pPr>
            <a:r>
              <a:rPr lang="zh-TW" altLang="en-US" sz="1600" b="1" dirty="0"/>
              <a:t>③</a:t>
            </a:r>
            <a:r>
              <a:rPr lang="zh-TW" altLang="en-US" sz="1600" dirty="0"/>
              <a:t> 哪一步如果改變，結論會翻盤？</a:t>
            </a:r>
          </a:p>
          <a:p>
            <a:pPr>
              <a:spcBef>
                <a:spcPts val="600"/>
              </a:spcBef>
            </a:pPr>
            <a:r>
              <a:rPr lang="zh-TW" altLang="en-US" sz="1600" b="1" dirty="0"/>
              <a:t>④</a:t>
            </a:r>
            <a:r>
              <a:rPr lang="zh-TW" altLang="en-US" sz="1600" dirty="0"/>
              <a:t> 你最沒把握的是哪一步？為什麼</a:t>
            </a:r>
          </a:p>
          <a:p>
            <a:pPr>
              <a:spcBef>
                <a:spcPts val="600"/>
              </a:spcBef>
            </a:pPr>
            <a:r>
              <a:rPr lang="zh-TW" altLang="en-US" sz="1600" b="1" dirty="0"/>
              <a:t>⑤</a:t>
            </a:r>
            <a:r>
              <a:rPr lang="zh-TW" altLang="en-US" sz="1600" dirty="0"/>
              <a:t> 如果換一個學科的框架看，你會改變哪幾步？</a:t>
            </a:r>
          </a:p>
          <a:p>
            <a:pPr>
              <a:spcBef>
                <a:spcPts val="600"/>
              </a:spcBef>
            </a:pPr>
            <a:r>
              <a:rPr lang="zh-TW" altLang="en-US" sz="1500" dirty="0">
                <a:solidFill>
                  <a:srgbClr val="2E5369"/>
                </a:solidFill>
              </a:rPr>
              <a:t>接著逐條改造：刪掉不適用的、補上它漏的、調整順序與權重、把你的判準寫進去——改完要它用新結構重跑同一題，比對兩次差異</a:t>
            </a:r>
          </a:p>
        </p:txBody>
      </p:sp>
      <p:sp>
        <p:nvSpPr>
          <p:cNvPr id="20" name="Shape 20"/>
          <p:cNvSpPr/>
          <p:nvPr/>
        </p:nvSpPr>
        <p:spPr>
          <a:xfrm>
            <a:off x="2400000" y="5300000"/>
            <a:ext cx="9500000" cy="900000"/>
          </a:xfrm>
          <a:prstGeom prst="roundRect">
            <a:avLst/>
          </a:prstGeom>
          <a:solidFill>
            <a:srgbClr val="DCEAF0"/>
          </a:solidFill>
          <a:ln w="12700">
            <a:solidFill>
              <a:srgbClr val="9BB7C4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zh-TW" altLang="en-US" sz="1450" b="1" dirty="0">
                <a:solidFill>
                  <a:srgbClr val="2E5369"/>
                </a:solidFill>
              </a:rPr>
              <a:t>別只說「解釋一下你的想法」——那會得到一段事後合理化的散文，沒有順序、沒有分歧點，因此無法動手術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四、超越｜五維擾動測試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400000" y="2100000"/>
          <a:ext cx="9500000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00" b="1" dirty="0">
                          <a:solidFill>
                            <a:srgbClr val="FFFFFF"/>
                          </a:solidFill>
                        </a:rPr>
                        <a:t>維度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00" b="1" dirty="0">
                          <a:solidFill>
                            <a:srgbClr val="FFFFFF"/>
                          </a:solidFill>
                        </a:rPr>
                        <a:t>標準問法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00" b="1" dirty="0">
                          <a:solidFill>
                            <a:srgbClr val="FFFFFF"/>
                          </a:solidFill>
                        </a:rPr>
                        <a:t>暴露什麼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3F3F3F"/>
                          </a:solidFill>
                        </a:rPr>
                        <a:t>人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換一個角色的位置看，結論還成立嗎？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誰沒被問到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3F3F3F"/>
                          </a:solidFill>
                        </a:rPr>
                        <a:t>事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同一主體同一時期，換一個問題，跑得動嗎？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方法的適用邊界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3F3F3F"/>
                          </a:solidFill>
                        </a:rPr>
                        <a:t>時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後來發生的類似事件，處理得了嗎？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哪些假設過期了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3F3F3F"/>
                          </a:solidFill>
                        </a:rPr>
                        <a:t>地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換規模或地理條件，成立前提是什麼？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前提條件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3F3F3F"/>
                          </a:solidFill>
                        </a:rPr>
                        <a:t>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換一個領域，哪些結論還在？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通則 vs 領域特性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Content Placeholder 20"/>
          <p:cNvSpPr>
            <a:spLocks noGrp="1"/>
          </p:cNvSpPr>
          <p:nvPr>
            <p:ph idx="1"/>
          </p:nvPr>
        </p:nvSpPr>
        <p:spPr>
          <a:xfrm>
            <a:off x="2400000" y="5550000"/>
            <a:ext cx="9500000" cy="9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500" b="1" dirty="0"/>
              <a:t>大意</a:t>
            </a:r>
            <a:r>
              <a:rPr lang="zh-TW" altLang="en-US" sz="1500" dirty="0"/>
              <a:t>：超越不產生新東西，它是拿前三階段的資產去做壓力測試。一次挑一到兩個維度做透，不要五維都碰一下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超越的通過判準：三欄一起看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400000" y="1950000"/>
          <a:ext cx="95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00" b="1" dirty="0">
                          <a:solidFill>
                            <a:srgbClr val="FFFFFF"/>
                          </a:solidFill>
                        </a:rPr>
                        <a:t>判準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00" b="1" dirty="0">
                          <a:solidFill>
                            <a:srgbClr val="FFFFFF"/>
                          </a:solidFill>
                        </a:rPr>
                        <a:t>問法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00" b="1" dirty="0">
                          <a:solidFill>
                            <a:srgbClr val="FFFFFF"/>
                          </a:solidFill>
                        </a:rPr>
                        <a:t>不通過的樣子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3F3F3F"/>
                          </a:solidFill>
                        </a:rPr>
                        <a:t>穩健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提問順序、檢核項目、分析步驟還適用嗎？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整套方法要重寫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3F3F3F"/>
                          </a:solidFill>
                        </a:rPr>
                        <a:t>敏感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結論、權重、取捨有沒有跟著改？改得有道理嗎？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換了維度結論卻一字不動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b="1" dirty="0">
                          <a:solidFill>
                            <a:srgbClr val="3F3F3F"/>
                          </a:solidFill>
                        </a:rPr>
                        <a:t>新問題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冒出哪些原本清單裡沒有的？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00" dirty="0">
                          <a:solidFill>
                            <a:srgbClr val="3F3F3F"/>
                          </a:solidFill>
                        </a:rPr>
                        <a:t>有，但沒被寫回資產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Content Placeholder 20"/>
          <p:cNvSpPr>
            <a:spLocks noGrp="1"/>
          </p:cNvSpPr>
          <p:nvPr>
            <p:ph idx="1"/>
          </p:nvPr>
        </p:nvSpPr>
        <p:spPr>
          <a:xfrm>
            <a:off x="2400000" y="4150000"/>
            <a:ext cx="9500000" cy="19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500" b="1" dirty="0"/>
              <a:t>主要項目</a:t>
            </a:r>
            <a:r>
              <a:rPr lang="zh-TW" altLang="en-US" sz="1500" dirty="0"/>
              <a:t>：選維度與設計擾動（入口）→ 三判準檢查（核心）→ 把新問題回填提問樹與檢核表（出口）</a:t>
            </a:r>
          </a:p>
          <a:p>
            <a:pPr>
              <a:spcBef>
                <a:spcPts val="600"/>
              </a:spcBef>
            </a:pPr>
            <a:r>
              <a:rPr lang="zh-TW" altLang="en-US" sz="1550" dirty="0">
                <a:solidFill>
                  <a:srgbClr val="2E5369"/>
                </a:solidFill>
              </a:rPr>
              <a:t>怎麼擾動都不變 → 那是</a:t>
            </a:r>
            <a:r>
              <a:rPr lang="zh-TW" altLang="en-US" sz="1550" b="1" dirty="0">
                <a:solidFill>
                  <a:srgbClr val="2E5369"/>
                </a:solidFill>
              </a:rPr>
              <a:t>標語</a:t>
            </a:r>
            <a:r>
              <a:rPr lang="zh-TW" altLang="en-US" sz="1550" dirty="0">
                <a:solidFill>
                  <a:srgbClr val="2E5369"/>
                </a:solidFill>
              </a:rPr>
              <a:t>，不是引擎</a:t>
            </a:r>
          </a:p>
          <a:p>
            <a:pPr>
              <a:spcBef>
                <a:spcPts val="600"/>
              </a:spcBef>
            </a:pPr>
            <a:r>
              <a:rPr lang="zh-TW" altLang="en-US" sz="1550" dirty="0">
                <a:solidFill>
                  <a:srgbClr val="2E5369"/>
                </a:solidFill>
              </a:rPr>
              <a:t>一擾動就重來 → 那表示原本</a:t>
            </a:r>
            <a:r>
              <a:rPr lang="zh-TW" altLang="en-US" sz="1550" b="1" dirty="0">
                <a:solidFill>
                  <a:srgbClr val="2E5369"/>
                </a:solidFill>
              </a:rPr>
              <a:t>沒有結構</a:t>
            </a:r>
          </a:p>
        </p:txBody>
      </p:sp>
      <p:sp>
        <p:nvSpPr>
          <p:cNvPr id="21" name="Shape 21"/>
          <p:cNvSpPr/>
          <p:nvPr/>
        </p:nvSpPr>
        <p:spPr>
          <a:xfrm>
            <a:off x="2400000" y="5600000"/>
            <a:ext cx="9500000" cy="750000"/>
          </a:xfrm>
          <a:prstGeom prst="roundRect">
            <a:avLst/>
          </a:prstGeom>
          <a:solidFill>
            <a:srgbClr val="2E5369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1800" b="1" dirty="0">
                <a:solidFill>
                  <a:srgbClr val="FFFFFF"/>
                </a:solidFill>
              </a:rPr>
              <a:t>不變的要不變，該變的要變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護腦第 ③ 行展開：四種人機分工模式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400000" y="2150000"/>
          <a:ext cx="9500000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50" b="1" dirty="0">
                          <a:solidFill>
                            <a:srgbClr val="FFFFFF"/>
                          </a:solidFill>
                        </a:rPr>
                        <a:t>分工模式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450" b="1" dirty="0">
                          <a:solidFill>
                            <a:srgbClr val="FFFFFF"/>
                          </a:solidFill>
                        </a:rPr>
                        <a:t>適合什麼題目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2E5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我先做，AI 挑錯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L1–L2：我懂七成以上，需要的是補洞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AI 先建地圖，我查證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L4：我連該問什麼都不知道——但要設「查不到出處就重來」的停損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兩邊各一版，再比對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需要注意力而非知識的題目——先看 AI 的，就永遠不知道自己原本能想到幾個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b="1" dirty="0">
                          <a:solidFill>
                            <a:srgbClr val="3F3F3F"/>
                          </a:solidFill>
                        </a:rPr>
                        <a:t>我定需求，AI 提方案，我評方案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zh-TW" altLang="en-US" sz="1350" dirty="0">
                          <a:solidFill>
                            <a:srgbClr val="3F3F3F"/>
                          </a:solidFill>
                        </a:rPr>
                        <a:t>領域與技術可分離的題目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D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Content Placeholder 20"/>
          <p:cNvSpPr>
            <a:spLocks noGrp="1"/>
          </p:cNvSpPr>
          <p:nvPr>
            <p:ph idx="1"/>
          </p:nvPr>
        </p:nvSpPr>
        <p:spPr>
          <a:xfrm>
            <a:off x="2400000" y="5600000"/>
            <a:ext cx="9500000" cy="8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500" dirty="0">
                <a:solidFill>
                  <a:srgbClr val="2E5369"/>
                </a:solidFill>
              </a:rPr>
              <a:t>這四種是整套方法裡</a:t>
            </a:r>
            <a:r>
              <a:rPr lang="zh-TW" altLang="en-US" sz="1500" b="1" dirty="0">
                <a:solidFill>
                  <a:srgbClr val="2E5369"/>
                </a:solidFill>
              </a:rPr>
              <a:t>最可攜</a:t>
            </a:r>
            <a:r>
              <a:rPr lang="zh-TW" altLang="en-US" sz="1500" dirty="0">
                <a:solidFill>
                  <a:srgbClr val="2E5369"/>
                </a:solidFill>
              </a:rPr>
              <a:t>的東西——跟學習對象完全無關，換到任何題目都成立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走完四階段，你手上會有三樣東西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2589212" y="2000000"/>
            <a:ext cx="8915400" cy="32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TW" altLang="en-US" sz="1700" b="1" dirty="0"/>
              <a:t>一份深度理解</a:t>
            </a:r>
            <a:r>
              <a:rPr lang="zh-TW" altLang="en-US" sz="1700" dirty="0"/>
              <a:t>　傳統的學習成果</a:t>
            </a:r>
          </a:p>
          <a:p>
            <a:pPr>
              <a:spcBef>
                <a:spcPts val="600"/>
              </a:spcBef>
            </a:pPr>
            <a:r>
              <a:rPr lang="zh-TW" altLang="en-US" sz="1700" b="1" dirty="0"/>
              <a:t>一台可重複使用的分析引擎</a:t>
            </a:r>
            <a:r>
              <a:rPr lang="zh-TW" altLang="en-US" sz="1700" dirty="0"/>
              <a:t>　錨點學科＋提問順序＋檢核規則</a:t>
            </a:r>
          </a:p>
          <a:p>
            <a:pPr>
              <a:spcBef>
                <a:spcPts val="600"/>
              </a:spcBef>
            </a:pPr>
            <a:r>
              <a:rPr lang="zh-TW" altLang="en-US" sz="1700" b="1" dirty="0"/>
              <a:t>一份自己的協作模式紀錄</a:t>
            </a:r>
            <a:r>
              <a:rPr lang="zh-TW" altLang="en-US" sz="1700" dirty="0"/>
              <a:t>　最可攜的一樣</a:t>
            </a:r>
          </a:p>
          <a:p>
            <a:pPr>
              <a:spcBef>
                <a:spcPts val="600"/>
              </a:spcBef>
            </a:pPr>
            <a:r>
              <a:rPr lang="zh-TW" altLang="en-US" sz="1500" dirty="0">
                <a:solidFill>
                  <a:srgbClr val="5A7480"/>
                </a:solidFill>
              </a:rPr>
              <a:t>後兩樣在前 AI 時代做不出來——不是方法不存在，而是沒有一個可以被反覆追問、可以攤開推理結構、可以立刻重跑的對象</a:t>
            </a:r>
          </a:p>
        </p:txBody>
      </p:sp>
      <p:sp>
        <p:nvSpPr>
          <p:cNvPr id="20" name="Shape 20"/>
          <p:cNvSpPr/>
          <p:nvPr/>
        </p:nvSpPr>
        <p:spPr>
          <a:xfrm>
            <a:off x="2400000" y="5250000"/>
            <a:ext cx="9500000" cy="900000"/>
          </a:xfrm>
          <a:prstGeom prst="roundRect">
            <a:avLst/>
          </a:prstGeom>
          <a:solidFill>
            <a:srgbClr val="2E5369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altLang="en-US" sz="1800" b="1" dirty="0">
                <a:solidFill>
                  <a:srgbClr val="FFFFFF"/>
                </a:solidFill>
              </a:rPr>
              <a:t>AI 讓「做出來」變便宜；「說得出為什麼」才是你的價值</a:t>
            </a:r>
          </a:p>
        </p:txBody>
      </p:sp>
      <p:sp>
        <p:nvSpPr>
          <p:cNvPr id="99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4EC4-A442-49C1-BEA8-563ACD0EFF78}" type="slidenum">
              <a:rPr lang="zh-TW" altLang="en-US" smtClean="0"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3216</TotalTime>
  <Words>2028</Words>
  <Application>Microsoft Office PowerPoint</Application>
  <PresentationFormat>寬螢幕</PresentationFormat>
  <Paragraphs>198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絲縷</vt:lpstr>
      <vt:lpstr>四階段的通用AI 協作學習  Kevin Hsu</vt:lpstr>
      <vt:lpstr>這是什麼，以及為什麼要補上操作型定義</vt:lpstr>
      <vt:lpstr>全貌：四個階段是一條產物鏈</vt:lpstr>
      <vt:lpstr>四個難度等級，決定你走哪一條路線</vt:lpstr>
      <vt:lpstr>一、護腦｜先想清楚，再決定怎麼跟 AI 分工</vt:lpstr>
      <vt:lpstr>護腦的核心產物：一頁作戰計畫（四行）</vt:lpstr>
      <vt:lpstr>二、速學｜把材料餵對，走出自己的求知路徑</vt:lpstr>
      <vt:lpstr>設定啟動資料：先問，再決定餵不餵</vt:lpstr>
      <vt:lpstr>三、賦能｜認出背後的學科，把過程固化成資產</vt:lpstr>
      <vt:lpstr>賦能的核心：拆解並改造 AI 的推理結構</vt:lpstr>
      <vt:lpstr>四、超越｜五維擾動測試</vt:lpstr>
      <vt:lpstr>超越的通過判準：三欄一起看</vt:lpstr>
      <vt:lpstr>護腦第 ③ 行展開：四種人機分工模式</vt:lpstr>
      <vt:lpstr>走完四階段，你手上會有三樣東西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軟體工程這堂課要教你什麼</dc:title>
  <dc:creator>Windows User</dc:creator>
  <cp:lastModifiedBy>USER</cp:lastModifiedBy>
  <cp:revision>118</cp:revision>
  <dcterms:created xsi:type="dcterms:W3CDTF">2017-09-13T03:26:20Z</dcterms:created>
  <dcterms:modified xsi:type="dcterms:W3CDTF">2026-09-14T11:19:46Z</dcterms:modified>
</cp:coreProperties>
</file>